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B365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Problem Statement ID – </a:t>
            </a:r>
            <a:r>
              <a:rPr b="1" sz="1750" u="none">
                <a:solidFill>
                  <a:srgbClr val="141414"/>
                </a:solidFill>
                <a:latin typeface="Arial"/>
              </a:rPr>
              <a:t>26154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Problem Statement Title - </a:t>
            </a:r>
            <a:r>
              <a:rPr b="1" sz="1750" u="none">
                <a:solidFill>
                  <a:srgbClr val="141414"/>
                </a:solidFill>
                <a:latin typeface="Arial"/>
              </a:rPr>
              <a:t>Gen AI Platform for Automated Content Transformation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Theme - </a:t>
            </a:r>
            <a:r>
              <a:rPr b="0" sz="1750" u="none">
                <a:solidFill>
                  <a:srgbClr val="141414"/>
                </a:solidFill>
                <a:latin typeface="Arial"/>
              </a:rPr>
              <a:t>Miscellaneous / AI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PS Category - </a:t>
            </a:r>
            <a:r>
              <a:rPr b="0" sz="1750" u="none">
                <a:solidFill>
                  <a:srgbClr val="141414"/>
                </a:solidFill>
                <a:latin typeface="Arial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Team ID - </a:t>
            </a:r>
            <a:r>
              <a:rPr b="0" sz="1750" u="none">
                <a:solidFill>
                  <a:srgbClr val="141414"/>
                </a:solidFill>
                <a:latin typeface="Arial"/>
              </a:rPr>
              <a:t>104580</a:t>
            </a:r>
          </a:p>
          <a:p>
            <a:pPr>
              <a:spcAft>
                <a:spcPts val="1000"/>
              </a:spcAft>
            </a:pPr>
            <a:r>
              <a:rPr b="1" sz="1750">
                <a:solidFill>
                  <a:srgbClr val="141414"/>
                </a:solidFill>
                <a:latin typeface="Times New Roman"/>
              </a:rPr>
              <a:t>• Team Name - </a:t>
            </a:r>
            <a:r>
              <a:rPr b="1" sz="1750" u="none">
                <a:solidFill>
                  <a:srgbClr val="141414"/>
                </a:solidFill>
                <a:latin typeface="Arial"/>
              </a:rPr>
              <a:t>OmniTransform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365D"/>
                </a:solidFill>
                <a:latin typeface="Times New Roman"/>
              </a:rPr>
              <a:t>• Project Resources - </a:t>
            </a:r>
            <a:r>
              <a:rPr b="1" sz="1400" u="sng">
                <a:solidFill>
                  <a:srgbClr val="0077C8"/>
                </a:solidFill>
                <a:latin typeface="Arial"/>
              </a:rPr>
              <a:t>https://github.com/hrlpavan/omnitransform-ai-resources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645920"/>
            <a:ext cx="3291840" cy="1695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Arial"/>
              </a:defRPr>
            </a:pPr>
            <a:r>
              <a:t>OmniTransform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65D"/>
                </a:solidFill>
                <a:latin typeface="Times New Roman"/>
              </a:defRPr>
            </a:pPr>
            <a:r>
              <a:t>OMNITRANSFORM (ALL-IN-ONE) AI CONTENT PLATFORM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474720" cy="4114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Proposed Solution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474720" cy="4617720"/>
          </a:xfrm>
          <a:prstGeom prst="rect">
            <a:avLst/>
          </a:prstGeom>
          <a:solidFill>
            <a:srgbClr val="F5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Simple Web Platform: </a:t>
            </a:r>
            <a:r>
              <a:rPr sz="1050">
                <a:solidFill>
                  <a:srgbClr val="141414"/>
                </a:solidFill>
                <a:latin typeface="Arial"/>
              </a:rPr>
              <a:t>A clean and fast web application built for government officers, analysts, and students.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Upload Any Document: </a:t>
            </a:r>
            <a:r>
              <a:rPr sz="1050">
                <a:solidFill>
                  <a:srgbClr val="141414"/>
                </a:solidFill>
                <a:latin typeface="Arial"/>
              </a:rPr>
              <a:t>Takes long PDFs, research whitepapers, and government reports up to 100+ pages.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5 Output Formats in Seconds: </a:t>
            </a:r>
            <a:r>
              <a:rPr sz="1050">
                <a:solidFill>
                  <a:srgbClr val="141414"/>
                </a:solidFill>
                <a:latin typeface="Arial"/>
              </a:rPr>
              <a:t>Automatically creates 1-page memo, presentation slides, infographics, press release, and 60s voice audio.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Saves Hours of Manual Work: </a:t>
            </a:r>
            <a:r>
              <a:rPr sz="1050">
                <a:solidFill>
                  <a:srgbClr val="141414"/>
                </a:solidFill>
                <a:latin typeface="Arial"/>
              </a:rPr>
              <a:t>Officers save 4 to 6 hours daily spent on manually typing summaries and designing PPTs.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Accurate Page References: </a:t>
            </a:r>
            <a:r>
              <a:rPr sz="1050">
                <a:solidFill>
                  <a:srgbClr val="141414"/>
                </a:solidFill>
                <a:latin typeface="Arial"/>
              </a:rPr>
              <a:t>Every bullet point links directly to the exact page and line in the original PDF file.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Works 100% Offline: </a:t>
            </a:r>
            <a:r>
              <a:rPr sz="1050">
                <a:solidFill>
                  <a:srgbClr val="141414"/>
                </a:solidFill>
                <a:latin typeface="Arial"/>
              </a:rPr>
              <a:t>Can be installed on local office servers without sending sensitive data to the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411480"/>
          </a:xfrm>
          <a:prstGeom prst="rect">
            <a:avLst/>
          </a:prstGeom>
          <a:solidFill>
            <a:srgbClr val="3C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Key Feature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00200"/>
            <a:ext cx="3474720" cy="4617720"/>
          </a:xfrm>
          <a:prstGeom prst="rect">
            <a:avLst/>
          </a:prstGeom>
          <a:solidFill>
            <a:srgbClr val="F5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Smart PDF Parser: </a:t>
            </a:r>
            <a:r>
              <a:rPr sz="1050">
                <a:solidFill>
                  <a:srgbClr val="141414"/>
                </a:solidFill>
                <a:latin typeface="Arial"/>
              </a:rPr>
              <a:t>Extracts clean text, headings, and complex tables using PyMuPDF and pdfplumber.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Fast AI Summarization: </a:t>
            </a:r>
            <a:r>
              <a:rPr sz="1050">
                <a:solidFill>
                  <a:srgbClr val="141414"/>
                </a:solidFill>
                <a:latin typeface="Arial"/>
              </a:rPr>
              <a:t>Uses open-source Llama 3 and Mistral models to extract key decisions and highlights.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Slide Deck Creator: </a:t>
            </a:r>
            <a:r>
              <a:rPr sz="1050">
                <a:solidFill>
                  <a:srgbClr val="141414"/>
                </a:solidFill>
                <a:latin typeface="Arial"/>
              </a:rPr>
              <a:t>Converts raw notes into clean, formatted PowerPoint slides ready for team meetings.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Multilingual Press Release: </a:t>
            </a:r>
            <a:r>
              <a:rPr sz="1050">
                <a:solidFill>
                  <a:srgbClr val="141414"/>
                </a:solidFill>
                <a:latin typeface="Arial"/>
              </a:rPr>
              <a:t>Translates official summaries into Hindi, English, and regional Indian languages.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60-Second Audio Podcast: </a:t>
            </a:r>
            <a:r>
              <a:rPr sz="1050">
                <a:solidFill>
                  <a:srgbClr val="141414"/>
                </a:solidFill>
                <a:latin typeface="Arial"/>
              </a:rPr>
              <a:t>Generates clear voice audio briefings using local Piper neural text-to-speech.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Safe &amp; Private Database: </a:t>
            </a:r>
            <a:r>
              <a:rPr sz="1050">
                <a:solidFill>
                  <a:srgbClr val="141414"/>
                </a:solidFill>
                <a:latin typeface="Arial"/>
              </a:rPr>
              <a:t>Stores files in a local secure database with zero third-party cloud tracking.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474720" cy="41148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Innovation &amp; Social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3474720" cy="4617720"/>
          </a:xfrm>
          <a:prstGeom prst="rect">
            <a:avLst/>
          </a:prstGeom>
          <a:solidFill>
            <a:srgbClr val="F5F8FA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/>
          <a:lstStyle/>
          <a:p>
            <a:pPr algn="ctr"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All-in-One Solution: </a:t>
            </a:r>
            <a:r>
              <a:rPr sz="1050">
                <a:solidFill>
                  <a:srgbClr val="141414"/>
                </a:solidFill>
                <a:latin typeface="Arial"/>
              </a:rPr>
              <a:t>Replaces 5 separate tools into one simple dashboard (Summary + PPT + Audio + Image + Translate).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Zero Hallucinations: </a:t>
            </a:r>
            <a:r>
              <a:rPr sz="1050">
                <a:solidFill>
                  <a:srgbClr val="141414"/>
                </a:solidFill>
                <a:latin typeface="Arial"/>
              </a:rPr>
              <a:t>The AI is locked to only use facts from the uploaded document, preventing fake numbers.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Click-to-Verify Citations: </a:t>
            </a:r>
            <a:r>
              <a:rPr sz="1050">
                <a:solidFill>
                  <a:srgbClr val="141414"/>
                </a:solidFill>
                <a:latin typeface="Arial"/>
              </a:rPr>
              <a:t>Clicking any summary sentence instantly opens the PDF with the exact sentence highlighted.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Regional Language Reach: </a:t>
            </a:r>
            <a:r>
              <a:rPr sz="1050">
                <a:solidFill>
                  <a:srgbClr val="141414"/>
                </a:solidFill>
                <a:latin typeface="Arial"/>
              </a:rPr>
              <a:t>Helps common citizens read complex government schemes in their own local language.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Fast Decision Making: </a:t>
            </a:r>
            <a:r>
              <a:rPr sz="1050">
                <a:solidFill>
                  <a:srgbClr val="141414"/>
                </a:solidFill>
                <a:latin typeface="Arial"/>
              </a:rPr>
              <a:t>Leaders and senior officers can review urgent threat alerts in under 1 minute.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41414"/>
                </a:solidFill>
                <a:latin typeface="Arial"/>
              </a:rPr>
              <a:t>● Low Cost &amp; Open Source: </a:t>
            </a:r>
            <a:r>
              <a:rPr sz="1050">
                <a:solidFill>
                  <a:srgbClr val="141414"/>
                </a:solidFill>
                <a:latin typeface="Arial"/>
              </a:rPr>
              <a:t>Built on free open-source software with no expensive monthly API bills.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Arial"/>
              </a:defRPr>
            </a:pPr>
            <a:r>
              <a:t>OmniTransform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8" name="Picture 7" descr="omnitransform_pipelin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035040" cy="31559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11887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41414"/>
                </a:solidFill>
                <a:latin typeface="Arial"/>
              </a:defRPr>
            </a:pPr>
            <a:r>
              <a:t>• Technologies that are used are Programming languages like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JavaScript with React / Next.js (Web app development),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Python FastAPI (Backend server &amp; API),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PyMuPDF &amp; pdfplumber (PDF text &amp; table extraction),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Llama 3 / Mistral (AI summarization &amp; text processing),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IndicBERT (Multiple Indian Language Translation),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SQLite / Vector DB (Database).</a:t>
            </a:r>
          </a:p>
          <a:p>
            <a:br/>
            <a:pPr>
              <a:spcAft>
                <a:spcPts val="400"/>
              </a:spcAft>
              <a:defRPr sz="1300" b="1">
                <a:solidFill>
                  <a:srgbClr val="141414"/>
                </a:solidFill>
                <a:latin typeface="Arial"/>
              </a:defRPr>
            </a:pPr>
            <a:r>
              <a:t>• Methodology and process for implementation :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1) User uploads PDF / Document to web dashboard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2) Parser extracts text, headings, and data tables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3) AI creates 1-page summary &amp; formatted slide deck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4) Audio engine synthesizes 60s voice podcast briefing</a:t>
            </a:r>
          </a:p>
          <a:p>
            <a:pPr>
              <a:spcAft>
                <a:spcPts val="200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  5) User previews live and downloads all 5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577840"/>
            <a:ext cx="48463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077C8"/>
                </a:solidFill>
                <a:latin typeface="Arial"/>
              </a:defRPr>
            </a:pPr>
            <a:r>
              <a:t>APP PROTOTYPE &amp; RESOURCE REPOSITORY LINK</a:t>
            </a:r>
          </a:p>
          <a:p>
            <a:pPr>
              <a:defRPr sz="1200" b="1" u="sng">
                <a:solidFill>
                  <a:srgbClr val="0077C8"/>
                </a:solidFill>
                <a:latin typeface="Arial"/>
              </a:defRPr>
            </a:pPr>
            <a:r>
              <a:t>https://github.com/hrlpavan/omnitransform-ai-resources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Arial"/>
              </a:defRPr>
            </a:pPr>
            <a:r>
              <a:t>OmniTransform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41414"/>
                </a:solidFill>
                <a:latin typeface="Arial"/>
              </a:defRPr>
            </a:pPr>
            <a:r>
              <a:t>ANALYSIS OF THE FEASIBILITY OF THE IDEA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Technical &amp; Practical Feasibility: </a:t>
            </a:r>
            <a:r>
              <a:rPr sz="1100">
                <a:solidFill>
                  <a:srgbClr val="141414"/>
                </a:solidFill>
              </a:rPr>
              <a:t>Built using standard open-source tools like Python, React, and local AI models. Works smoothly on a standard office laptop or PC.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Easy Offline Deployment: </a:t>
            </a:r>
            <a:r>
              <a:rPr sz="1100">
                <a:solidFill>
                  <a:srgbClr val="141414"/>
                </a:solidFill>
              </a:rPr>
              <a:t>The complete software runs inside Docker containers on local office computers without needing an active internet connection.</a:t>
            </a:r>
          </a:p>
          <a:p>
            <a:br/>
            <a:pPr>
              <a:spcAft>
                <a:spcPts val="400"/>
              </a:spcAft>
              <a:defRPr sz="1400" b="1">
                <a:solidFill>
                  <a:srgbClr val="141414"/>
                </a:solidFill>
                <a:latin typeface="Arial"/>
              </a:defRPr>
            </a:pPr>
            <a:r>
              <a:t>POTENTIAL CHALLENGES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Complex Tables &amp; Charts: </a:t>
            </a:r>
            <a:r>
              <a:rPr sz="1100">
                <a:solidFill>
                  <a:srgbClr val="141414"/>
                </a:solidFill>
              </a:rPr>
              <a:t>Dense multi-column tables in scanned PDFs can be hard to parse accurately.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Processing Speed on Long Files: </a:t>
            </a:r>
            <a:r>
              <a:rPr sz="1100">
                <a:solidFill>
                  <a:srgbClr val="141414"/>
                </a:solidFill>
              </a:rPr>
              <a:t>Converting 100+ page documents requires efficient processing to stay under 10 seconds.</a:t>
            </a:r>
          </a:p>
          <a:p>
            <a:br/>
            <a:pPr>
              <a:spcAft>
                <a:spcPts val="400"/>
              </a:spcAft>
              <a:defRPr sz="1400" b="1">
                <a:solidFill>
                  <a:srgbClr val="141414"/>
                </a:solidFill>
                <a:latin typeface="Arial"/>
              </a:defRPr>
            </a:pPr>
            <a:r>
              <a:t>STRATEGIES TO OVERCOME CHALLENGES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Smart Table Parser: </a:t>
            </a:r>
            <a:r>
              <a:rPr sz="1100">
                <a:solidFill>
                  <a:srgbClr val="141414"/>
                </a:solidFill>
              </a:rPr>
              <a:t>Use layout-aware coordinate parsers (pdfplumber) to keep table rows and numbers intact.</a:t>
            </a:r>
          </a:p>
          <a:p>
            <a:pPr>
              <a:spcAft>
                <a:spcPts val="500"/>
              </a:spcAft>
            </a:pPr>
            <a:r>
              <a:rPr b="1" sz="1150">
                <a:solidFill>
                  <a:srgbClr val="141414"/>
                </a:solidFill>
              </a:rPr>
              <a:t>● Parallel Page Processing: </a:t>
            </a:r>
            <a:r>
              <a:rPr sz="1100">
                <a:solidFill>
                  <a:srgbClr val="141414"/>
                </a:solidFill>
              </a:rPr>
              <a:t>Split chapters into parallel worker tasks so long reports are summarized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188720"/>
            <a:ext cx="393192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 rIns="228600"/>
          <a:lstStyle/>
          <a:p>
            <a:pPr algn="ctr">
              <a:spcAft>
                <a:spcPts val="1400"/>
              </a:spcAft>
              <a:defRPr sz="1300" b="1">
                <a:solidFill>
                  <a:srgbClr val="1B365D"/>
                </a:solidFill>
                <a:latin typeface="Arial"/>
              </a:defRPr>
            </a:pPr>
            <a:r>
              <a:t>KEY FEASIBILITY HIGHLIGHTS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Low Cost
</a:t>
            </a:r>
            <a:r>
              <a:rPr sz="1100">
                <a:solidFill>
                  <a:srgbClr val="141414"/>
                </a:solidFill>
                <a:latin typeface="Arial"/>
              </a:rPr>
              <a:t>Runs on free open-source models with no recurring software license fees.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Zero Setup
</a:t>
            </a:r>
            <a:r>
              <a:rPr sz="1100">
                <a:solidFill>
                  <a:srgbClr val="141414"/>
                </a:solidFill>
                <a:latin typeface="Arial"/>
              </a:rPr>
              <a:t>Packaged in Docker for simple 1-click startup on any Windows/Linux machine.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Complete Privacy
</a:t>
            </a:r>
            <a:r>
              <a:rPr sz="1100">
                <a:solidFill>
                  <a:srgbClr val="141414"/>
                </a:solidFill>
                <a:latin typeface="Arial"/>
              </a:rPr>
              <a:t>No data leaves the office network; 100% safe for official government documents.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E69138"/>
                </a:solidFill>
                <a:latin typeface="Arial"/>
              </a:rPr>
              <a:t>[+] High Accuracy
</a:t>
            </a:r>
            <a:r>
              <a:rPr sz="1100">
                <a:solidFill>
                  <a:srgbClr val="141414"/>
                </a:solidFill>
                <a:latin typeface="Arial"/>
              </a:rPr>
              <a:t>Direct page citations guarantee zero fake or made-up facts in summaries.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Arial"/>
              </a:defRPr>
            </a:pPr>
            <a:r>
              <a:t>OmniTransform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Saves Analyst Time: </a:t>
            </a:r>
            <a:r>
              <a:rPr sz="1050">
                <a:solidFill>
                  <a:srgbClr val="141414"/>
                </a:solidFill>
              </a:rPr>
              <a:t>Reduces 4 to 6 hours of manual report writing to under 10 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Faster Decision Making: </a:t>
            </a:r>
            <a:r>
              <a:rPr sz="1050">
                <a:solidFill>
                  <a:srgbClr val="141414"/>
                </a:solidFill>
              </a:rPr>
              <a:t>Officers can quickly read 1-page executive memos during urgent meetings.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Regional Language Reach: </a:t>
            </a:r>
            <a:r>
              <a:rPr sz="1050">
                <a:solidFill>
                  <a:srgbClr val="141414"/>
                </a:solidFill>
              </a:rPr>
              <a:t>Converts central government policies into Hindi, Kannada, and local Indian languages.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5486400" cy="19202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Cost Effective: </a:t>
            </a:r>
            <a:r>
              <a:rPr sz="1050">
                <a:solidFill>
                  <a:srgbClr val="141414"/>
                </a:solidFill>
              </a:rPr>
              <a:t>Eliminates high costs of outsourcing presentation design and document translation.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100% Data Privacy: </a:t>
            </a:r>
            <a:r>
              <a:rPr sz="1050">
                <a:solidFill>
                  <a:srgbClr val="141414"/>
                </a:solidFill>
              </a:rPr>
              <a:t>Sensitive government intelligence remains inside local servers without leaks.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Easy Mobile Access: </a:t>
            </a:r>
            <a:r>
              <a:rPr sz="1050">
                <a:solidFill>
                  <a:srgbClr val="141414"/>
                </a:solidFill>
              </a:rPr>
              <a:t>Field staff can listen to 60-second audio summaries on their mobile phones.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For Instance: User 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303520" cy="4663440"/>
          </a:xfrm>
          <a:prstGeom prst="rect">
            <a:avLst/>
          </a:prstGeom>
          <a:solidFill>
            <a:srgbClr val="F5F8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Scenario: </a:t>
            </a:r>
            <a:r>
              <a:rPr sz="1050">
                <a:solidFill>
                  <a:srgbClr val="141414"/>
                </a:solidFill>
              </a:rPr>
              <a:t>Rahul, an intelligence analyst at a government agency, receives a 50-page technical threat report at 9:00 AM. He has to present the key findings to senior officers in a 9:30 AM meeting.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Problem: </a:t>
            </a:r>
            <a:r>
              <a:rPr sz="1050">
                <a:solidFill>
                  <a:srgbClr val="141414"/>
                </a:solidFill>
              </a:rPr>
              <a:t>Reading the full 50 pages and manually typing summary slides takes at least 3 hours. Finding the most critical points in a hurry can lead to missing important details.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Impact with OmniTransform: </a:t>
            </a:r>
            <a:r>
              <a:rPr sz="1050">
                <a:solidFill>
                  <a:srgbClr val="141414"/>
                </a:solidFill>
              </a:rPr>
              <a:t>Rahul uploads the PDF to OmniTransform. In 10 seconds, the platform gives him: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1-Page Summary Memo </a:t>
            </a:r>
            <a:r>
              <a:rPr sz="1050">
                <a:solidFill>
                  <a:srgbClr val="141414"/>
                </a:solidFill>
              </a:rPr>
              <a:t>Clear bullet points with key highlights and numbers.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5 Presentation Slides </a:t>
            </a:r>
            <a:r>
              <a:rPr sz="1050">
                <a:solidFill>
                  <a:srgbClr val="141414"/>
                </a:solidFill>
              </a:rPr>
              <a:t>Formatted and ready to project in the meeting room.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41414"/>
                </a:solidFill>
              </a:rPr>
              <a:t>● Clickable Citations </a:t>
            </a:r>
            <a:r>
              <a:rPr sz="1050">
                <a:solidFill>
                  <a:srgbClr val="141414"/>
                </a:solidFill>
              </a:rPr>
              <a:t>Rahul clicks any bullet point to show the exact page in the raw PDF.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365D"/>
                </a:solidFill>
              </a:rPr>
              <a:t>Benefits: </a:t>
            </a:r>
            <a:r>
              <a:rPr sz="1050">
                <a:solidFill>
                  <a:srgbClr val="141414"/>
                </a:solidFill>
              </a:rPr>
              <a:t>Rahul walks into the 9:30 AM meeting fully prepared with accurate, verified facts. What used to take 3 hours was finished in under 10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64592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65D"/>
                </a:solidFill>
                <a:latin typeface="Arial"/>
              </a:defRPr>
            </a:pPr>
            <a:r>
              <a:t>OmniTransform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3120" y="22860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offici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4592"/>
            <a:ext cx="2560320" cy="13184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MASTER RESOURCE REPOSITORY &amp; CODE: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https://github.com/hrlpavan/omnitransform-ai-resources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OPEN-SOURCE DATASETS &amp; MODELS GUIDE: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https://github.com/hrlpavan/omnitransform-ai-resources/blob/main/OPEN_SOURCE_RESOURCES_AND_DATASETS.md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TECHNICAL DEVELOPMENT SPECIFICATION: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https://github.com/hrlpavan/omnitransform-ai-resources/blob/main/PROJECT_DEVELOPMENT_SPECIFICATION.md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SMART INDIA HACKATHON 2026 OFFICIAL PORTAL (PS ID 26154):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https://www.sih.gov.in/sih2026PS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NATIONAL TECHNICAL RESEARCH ORGANISATION (NTRO) PORTAL: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https://ntro.gov.in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41414"/>
                </a:solidFill>
              </a:rPr>
              <a:t>❖  </a:t>
            </a:r>
            <a:r>
              <a:rPr b="1" sz="1300">
                <a:solidFill>
                  <a:srgbClr val="1B365D"/>
                </a:solidFill>
                <a:latin typeface="Times New Roman"/>
              </a:rPr>
              <a:t>RESEARCH ON RAG &amp; CITATIONS (LEWIS ET AL. 2020):  </a:t>
            </a:r>
            <a:r>
              <a:rPr u="sng" sz="1200">
                <a:solidFill>
                  <a:srgbClr val="0077C8"/>
                </a:solidFill>
                <a:latin typeface="Arial"/>
              </a:rPr>
              <a:t>https://arxiv.org/abs/2005.11401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